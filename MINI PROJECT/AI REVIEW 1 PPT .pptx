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58" r:id="rId4"/>
    <p:sldId id="261" r:id="rId5"/>
    <p:sldId id="259" r:id="rId6"/>
    <p:sldId id="277" r:id="rId7"/>
    <p:sldId id="278" r:id="rId8"/>
    <p:sldId id="279" r:id="rId9"/>
    <p:sldId id="280" r:id="rId10"/>
    <p:sldId id="264" r:id="rId11"/>
    <p:sldId id="263" r:id="rId12"/>
    <p:sldId id="281" r:id="rId13"/>
    <p:sldId id="282" r:id="rId14"/>
    <p:sldId id="273" r:id="rId15"/>
    <p:sldId id="274" r:id="rId16"/>
    <p:sldId id="275" r:id="rId17"/>
    <p:sldId id="262" r:id="rId18"/>
    <p:sldId id="265" r:id="rId19"/>
    <p:sldId id="267" r:id="rId20"/>
    <p:sldId id="268" r:id="rId21"/>
    <p:sldId id="269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52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7A28FD0-5536-46CF-A9B5-383FC4CF25F0}" v="2" dt="2026-08-08T02:53:12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82" d="100"/>
          <a:sy n="82" d="100"/>
        </p:scale>
        <p:origin x="710" y="62"/>
      </p:cViewPr>
      <p:guideLst>
        <p:guide orient="horz" pos="2852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D9CAF-DC26-419E-8B11-09857B664346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B2DE9-CA67-4F69-BBF5-40D6815671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10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B2DE9-CA67-4F69-BBF5-40D6815671C9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719192" y="572770"/>
            <a:ext cx="2753614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47467" y="399034"/>
            <a:ext cx="7497064" cy="704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Times New Roman" panose="02020603050405020304"/>
                <a:cs typeface="Times New Roman" panose="0202060305040502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811139" y="6474967"/>
            <a:ext cx="5645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2700">
              <a:lnSpc>
                <a:spcPts val="1240"/>
              </a:lnSpc>
            </a:pPr>
            <a:r>
              <a:rPr spc="-10" dirty="0"/>
              <a:t>EEA1306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04778" y="6474967"/>
            <a:ext cx="244093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pPr marL="115570">
              <a:lnSpc>
                <a:spcPts val="12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0" y="320040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latin typeface="Times New Roman"/>
              </a:rPr>
              <a:t>SIMATS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868680"/>
            <a:ext cx="65836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 dirty="0">
                <a:latin typeface="Times New Roman"/>
              </a:rPr>
              <a:t>SAVEETHA INSTITUTE OF MEDICAL AND
TECHNICAL SCIENCES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6034" y="1807661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IN" sz="2100" b="1" i="0" dirty="0">
                <a:latin typeface="Times New Roman"/>
              </a:rPr>
              <a:t>CAPSTONE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4983" y="2791378"/>
            <a:ext cx="9144000" cy="14811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i="0" dirty="0">
                <a:latin typeface="Times New Roman"/>
              </a:rPr>
              <a:t>AI-Powered </a:t>
            </a:r>
            <a:r>
              <a:rPr lang="en-US" sz="3200" b="1" dirty="0">
                <a:latin typeface="Times New Roman"/>
              </a:rPr>
              <a:t>E</a:t>
            </a:r>
            <a:r>
              <a:rPr lang="en-US" sz="3200" b="1" i="0" dirty="0">
                <a:latin typeface="Times New Roman"/>
              </a:rPr>
              <a:t>lectrical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anel </a:t>
            </a:r>
            <a:r>
              <a:rPr lang="en-US" sz="3200" b="1" dirty="0">
                <a:latin typeface="Times New Roman"/>
              </a:rPr>
              <a:t>F</a:t>
            </a:r>
            <a:r>
              <a:rPr lang="en-US" sz="3200" b="1" i="0" dirty="0">
                <a:latin typeface="Times New Roman"/>
              </a:rPr>
              <a:t>ault </a:t>
            </a:r>
            <a:r>
              <a:rPr lang="en-US" sz="3200" b="1" dirty="0">
                <a:latin typeface="Times New Roman"/>
              </a:rPr>
              <a:t>P</a:t>
            </a:r>
            <a:r>
              <a:rPr lang="en-US" sz="3200" b="1" i="0" dirty="0">
                <a:latin typeface="Times New Roman"/>
              </a:rPr>
              <a:t>rediction
and Preventive </a:t>
            </a:r>
            <a:r>
              <a:rPr lang="en-US" sz="3200" b="1" dirty="0">
                <a:latin typeface="Times New Roman"/>
              </a:rPr>
              <a:t>M</a:t>
            </a:r>
            <a:r>
              <a:rPr lang="en-US" sz="3200" b="1" i="0" dirty="0">
                <a:latin typeface="Times New Roman"/>
              </a:rPr>
              <a:t>aintenance </a:t>
            </a:r>
            <a:r>
              <a:rPr lang="en-US" sz="3200" b="1" dirty="0">
                <a:latin typeface="Times New Roman"/>
              </a:rPr>
              <a:t>S</a:t>
            </a:r>
            <a:r>
              <a:rPr lang="en-US" sz="3200" b="1" i="0" dirty="0">
                <a:latin typeface="Times New Roman"/>
              </a:rPr>
              <a:t>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64426" y="2198002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 dirty="0">
                <a:latin typeface="Times New Roman"/>
              </a:rPr>
              <a:t>CSA17</a:t>
            </a:r>
            <a:r>
              <a:rPr lang="en-IN" sz="1800" b="1" i="0" dirty="0">
                <a:latin typeface="Times New Roman"/>
              </a:rPr>
              <a:t>07</a:t>
            </a:r>
            <a:r>
              <a:rPr sz="1800" b="1" i="0" dirty="0">
                <a:latin typeface="Times New Roman"/>
              </a:rPr>
              <a:t> - ARTIFICIAL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418011"/>
            <a:ext cx="33832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 dirty="0">
                <a:latin typeface="Times New Roman"/>
              </a:rPr>
              <a:t>Guided By:-
Dr. R. Veeramani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63260" y="5293147"/>
            <a:ext cx="3474720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dirty="0">
                <a:latin typeface="Times New Roman"/>
              </a:rPr>
              <a:t>Presented By :</a:t>
            </a:r>
          </a:p>
          <a:p>
            <a:pPr algn="l"/>
            <a:r>
              <a:rPr lang="en-IN" sz="1800" b="1" i="0" dirty="0">
                <a:latin typeface="Times New Roman"/>
              </a:rPr>
              <a:t>V.Lasya(192524186)</a:t>
            </a:r>
          </a:p>
          <a:p>
            <a:pPr algn="l"/>
            <a:r>
              <a:rPr lang="en-IN" b="1" dirty="0">
                <a:latin typeface="Times New Roman"/>
              </a:rPr>
              <a:t>V.G.Abbiramy(192524097)</a:t>
            </a:r>
          </a:p>
          <a:p>
            <a:pPr algn="l"/>
            <a:r>
              <a:rPr lang="en-IN" b="1" dirty="0">
                <a:latin typeface="Times New Roman"/>
              </a:rPr>
              <a:t>S.Divyasri(192524388)</a:t>
            </a:r>
          </a:p>
          <a:p>
            <a:pPr algn="l"/>
            <a:endParaRPr lang="en-IN" b="1" dirty="0">
              <a:latin typeface="Times New Roman"/>
            </a:endParaRPr>
          </a:p>
        </p:txBody>
      </p:sp>
      <p:pic>
        <p:nvPicPr>
          <p:cNvPr id="9" name="Picture 8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"/>
            <a:ext cx="726141" cy="1143000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0" y="228600"/>
            <a:ext cx="1135578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INTRODUCTION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783080"/>
            <a:ext cx="10149840" cy="42409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Electrical panels are essential for safe and reliable power distribution in industries, buildings and commercial facilities.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Common problems include overheating, overload, abnormal voltage/current, loose connections and component degradation.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Traditional maintenance is mainly scheduled or reactive and may not identify developing faults early.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Artificial Intelligence can learn patterns from sensor data and predict abnormal conditions before a major failure.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0669" y="6833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ABSTRACT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578" y="2075112"/>
            <a:ext cx="10149840" cy="380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The proposed system continuously monitors electrical-panel parameters such as voltage, current, temperature, load, power factor and vibration.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Sensor data is preprocessed and provided to machine-learning models for fault detection, classification and early warning.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The system estimates fault risk, identifies the likely fault type and recommends preventive-maintenance actions.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A dashboard displays real-time status, alerts, fault history and maintenance priorities.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86305"/>
            <a:ext cx="10149840" cy="336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Unexpected electrical-panel faults can cause downtime, equipment damage, safety hazards and increased repair cost.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Periodic inspection may miss faults that develop between scheduled maintenance activities.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Large amounts of sensor data are difficult to interpret manually in real time.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An intelligent system is required to predict faults early and support preventive maintenance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832833"/>
            <a:ext cx="121920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76816" y="2188763"/>
            <a:ext cx="10149840" cy="31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To </a:t>
            </a:r>
            <a:r>
              <a:rPr dirty="0"/>
              <a:t> Monitor important electrical-panel parameters continuously.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To </a:t>
            </a:r>
            <a:r>
              <a:rPr dirty="0"/>
              <a:t> Detect abnormal patterns related to overload, overheating and electrical abnormalities.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To </a:t>
            </a:r>
            <a:r>
              <a:rPr dirty="0"/>
              <a:t>Develop an AI/ML model to predict fault probability and classify fault conditions.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To </a:t>
            </a:r>
            <a:r>
              <a:rPr dirty="0"/>
              <a:t>Generate early alerts and maintenance recommendations based on predicted risk.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To </a:t>
            </a:r>
            <a:r>
              <a:rPr dirty="0"/>
              <a:t> Store historical readings and maintenance events for trend analysis.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00200" y="834308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EXISTING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" y="2350401"/>
            <a:ext cx="10149840" cy="3034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Scheduled preventive maintenance at fixed inspection intervals.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Manual measurement of voltage, current and temperature using test instruments.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Reactive maintenance after a breaker trip, visible abnormality or equipment failure.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Maintenance records are commonly maintained manually and provide limited predictive insight.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68620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523519" y="1194669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latin typeface="Times New Roman"/>
              </a:rPr>
              <a:t>EXISTING SYSTEM DRAWBACK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377440"/>
            <a:ext cx="10149840" cy="31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Faults can develop between two scheduled inspections.</a:t>
            </a:r>
            <a:endParaRPr lang="en-IN" dirty="0"/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Manual inspection is time-consuming and depends heavily on operator experience.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Fixed maintenance intervals may result in unnecessary servicing or late intervention.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Continuous condition monitoring and early fault prediction are limited.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Reactive repairs can increase downtime, maintenance cost and safety risk.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1939309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48211" y="111258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PROPOSED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589361"/>
            <a:ext cx="10149840" cy="3156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Collect sensor readings or historical electrical-panel data.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Clean and preprocess the data and generate useful features.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Use trained ML models to predict fault probability and classify fault type.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Generate alerts when sensor values or predicted risk cross defined thresholds.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Provide maintenance recommendations and maintain a history of alerts and actions.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378513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50669" y="1112019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PROPOSED SYSTEM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09657" y="2157372"/>
            <a:ext cx="10149840" cy="38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Real-time electrical and environmental parameter monitoring.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Fault prediction and fault-type classification.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Risk indication using Normal, Warning and Critical states.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Automatic alert generation and event logging.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Trend analysis for temperature, current, voltage and load.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Preventive-maintenance recommendations and maintenance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294733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latin typeface="Times New Roman"/>
              </a:rPr>
              <a:t>LITERATURE REVIEW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5900191"/>
              </p:ext>
            </p:extLst>
          </p:nvPr>
        </p:nvGraphicFramePr>
        <p:xfrm>
          <a:off x="594360" y="137160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83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Year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Paper / Standard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Method / Focus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Advantage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Limitation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Times New Roman"/>
                        </a:rPr>
                        <a:t>Relevance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00" b="0" dirty="0" smtClean="0">
                          <a:latin typeface="Times New Roman"/>
                        </a:rPr>
                        <a:t>20</a:t>
                      </a:r>
                      <a:r>
                        <a:rPr lang="en-US" sz="900" b="0" dirty="0" smtClean="0">
                          <a:latin typeface="Times New Roman"/>
                        </a:rPr>
                        <a:t>23</a:t>
                      </a:r>
                      <a:endParaRPr sz="900" b="0" dirty="0">
                        <a:latin typeface="Times New Roman"/>
                      </a:endParaRP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Times New Roman"/>
                        </a:rPr>
                        <a:t>Random Forests – </a:t>
                      </a:r>
                      <a:r>
                        <a:rPr sz="900" b="0" dirty="0" err="1">
                          <a:latin typeface="Times New Roman"/>
                        </a:rPr>
                        <a:t>Breiman</a:t>
                      </a:r>
                      <a:endParaRPr sz="900" b="0" dirty="0">
                        <a:latin typeface="Times New Roman"/>
                      </a:endParaRP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Ensemble classification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Handles nonlinear features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Needs representative data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Useful for fault classification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00" b="0" dirty="0" smtClean="0">
                          <a:latin typeface="Times New Roman"/>
                        </a:rPr>
                        <a:t>20</a:t>
                      </a:r>
                      <a:r>
                        <a:rPr lang="en-US" sz="900" b="0" dirty="0" smtClean="0">
                          <a:latin typeface="Times New Roman"/>
                        </a:rPr>
                        <a:t>25</a:t>
                      </a:r>
                      <a:endParaRPr sz="900" b="0" dirty="0">
                        <a:latin typeface="Times New Roman"/>
                      </a:endParaRP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Condition-based maintenance review – Jardine et al.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Condition monitoring &amp; prognostics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Supports early intervention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Requires reliable condition data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Supports predictive-maintenance concept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00" b="0" smtClean="0">
                          <a:latin typeface="Times New Roman"/>
                        </a:rPr>
                        <a:t>20</a:t>
                      </a:r>
                      <a:r>
                        <a:rPr lang="en-US" sz="900" b="0" smtClean="0">
                          <a:latin typeface="Times New Roman"/>
                        </a:rPr>
                        <a:t>24</a:t>
                      </a:r>
                      <a:endParaRPr sz="900" b="0">
                        <a:latin typeface="Times New Roman"/>
                      </a:endParaRP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ISO 17359:2018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Condition monitoring guidelines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Structured monitoring process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Not an AI model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Guides monitoring workflow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2023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NFPA 70B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Electrical equipment maintenance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Supports maintenance planning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Times New Roman"/>
                        </a:rPr>
                        <a:t>Site implementation required</a:t>
                      </a:r>
                    </a:p>
                  </a:txBody>
                  <a:tcPr marL="45720" marR="45720" marT="27432" marB="27432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latin typeface="Times New Roman"/>
                        </a:rPr>
                        <a:t>Supports preventive-maintenance practice</a:t>
                      </a:r>
                    </a:p>
                  </a:txBody>
                  <a:tcPr marL="45720" marR="45720" marT="27432" marB="27432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latin typeface="Times New Roman"/>
              </a:rP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Sensors /
Dataset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19202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Preprocessing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9202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AI/ML
Prediction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9202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Risk &amp; Fault
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92024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Dashboard /
Alerts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194560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Chevron 11"/>
          <p:cNvSpPr/>
          <p:nvPr/>
        </p:nvSpPr>
        <p:spPr>
          <a:xfrm>
            <a:off x="4690872" y="2194560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Chevron 12"/>
          <p:cNvSpPr/>
          <p:nvPr/>
        </p:nvSpPr>
        <p:spPr>
          <a:xfrm>
            <a:off x="6976872" y="2194560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Chevron 13"/>
          <p:cNvSpPr/>
          <p:nvPr/>
        </p:nvSpPr>
        <p:spPr>
          <a:xfrm>
            <a:off x="9262872" y="2194560"/>
            <a:ext cx="320040" cy="41148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074920" y="3886200"/>
            <a:ext cx="1828800" cy="9601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
</a:t>
            </a:r>
            <a:r>
              <a:rPr sz="1300">
                <a:latin typeface="Times New Roman"/>
              </a:rPr>
              <a:t>Maintenance
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2578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latin typeface="Times New Roman"/>
              </a:rPr>
              <a:t>Sensor data flows through preprocessing and AI prediction, followed by risk assessment and dashboard alerts.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latin typeface="Times New Roman"/>
              </a:rPr>
              <a:t>Maintenance actions and outcomes are stored as historical information for traceability and future improvement.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428B446-9F0F-40CA-D14E-33F219B02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88B780-CED4-5747-8966-37FB8FE14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76400" y="97112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DATA 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057400"/>
            <a:ext cx="10149840" cy="403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Input parameters: voltage, current, power, power factor, temperature, vibration and load percentage.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Event information: timestamp, operating state, breaker status and maintenance/fault event.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Target labels: Normal, Overload, Overheating, Voltage Abnormality, Current Abnormality and </a:t>
            </a:r>
            <a:r>
              <a:rPr lang="en-IN" dirty="0"/>
              <a:t>     c</a:t>
            </a:r>
            <a:r>
              <a:rPr dirty="0" err="1"/>
              <a:t>onnection</a:t>
            </a:r>
            <a:r>
              <a:rPr dirty="0"/>
              <a:t>/Component Fault.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Preprocessing includes missing-value handling, normalization/scaling and feature extraction.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The dataset should contain representative normal and fault operating patterns.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2856686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0428B446-9F0F-40CA-D14E-33F219B020A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988B780-CED4-5747-8966-37FB8FE149B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50669" y="104771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TECHNOLOGIES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3121" y="2157372"/>
            <a:ext cx="10149840" cy="38254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Front End: HTML, CSS, JavaScript / React.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Back End: Python with Flask or </a:t>
            </a:r>
            <a:r>
              <a:rPr dirty="0" err="1"/>
              <a:t>FastAPI</a:t>
            </a:r>
            <a:r>
              <a:rPr dirty="0"/>
              <a:t>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AI/ML: Scikit-learn; optional </a:t>
            </a:r>
            <a:r>
              <a:rPr dirty="0" err="1"/>
              <a:t>XGBoost</a:t>
            </a:r>
            <a:r>
              <a:rPr dirty="0"/>
              <a:t> or LSTM for advanced prediction.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Database: CSV / SQL for sensor readings, alerts and maintenance history.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IoT Hardware: ESP32 or equivalent controller with voltage, current and temperature sensors.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Tools: VS Code, Jupyter Notebook, Git and web browser.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74137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>
            <a:extLst>
              <a:ext uri="{FF2B5EF4-FFF2-40B4-BE49-F238E27FC236}">
                <a16:creationId xmlns:a16="http://schemas.microsoft.com/office/drawing/2014/main" id="{62088C7B-CAEB-97CA-B317-D13F79289D1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DD40B100-D3B7-718B-29E1-C61C4B3B682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50669" y="938858"/>
            <a:ext cx="792673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1: DATA ACQUISITION &amp; </a:t>
            </a:r>
            <a:r>
              <a:rPr lang="en-IN" sz="2700" b="1" dirty="0">
                <a:latin typeface="Times New Roman"/>
              </a:rPr>
              <a:t>     </a:t>
            </a:r>
            <a:r>
              <a:rPr sz="2700" b="1" dirty="0">
                <a:latin typeface="Times New Roman"/>
              </a:rPr>
              <a:t>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387398"/>
            <a:ext cx="10149840" cy="31532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</a:t>
            </a:r>
            <a:r>
              <a:rPr sz="2000" dirty="0"/>
              <a:t>Read electrical and environmental parameters from sensors or historical datasets.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Timestamp and validate every reading.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Store readings for live monitoring and historical analysis.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sz="2000" dirty="0"/>
              <a:t> Display the current panel condition and key parameters on the dashboard.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4">
            <a:extLst>
              <a:ext uri="{FF2B5EF4-FFF2-40B4-BE49-F238E27FC236}">
                <a16:creationId xmlns:a16="http://schemas.microsoft.com/office/drawing/2014/main" id="{F64864FD-F7D5-3CA2-F1EB-C81F6CA8FB4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E0ECDDDE-4780-4F79-9174-8809228540C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76400" y="862330"/>
            <a:ext cx="850392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2: AI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FAULT</a:t>
            </a:r>
            <a:r>
              <a:rPr lang="en-IN" sz="2700" b="1" dirty="0">
                <a:latin typeface="Times New Roman"/>
              </a:rPr>
              <a:t> </a:t>
            </a:r>
            <a:r>
              <a:rPr sz="2700" b="1" dirty="0">
                <a:latin typeface="Times New Roman"/>
              </a:rPr>
              <a:t>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82140" y="2209800"/>
            <a:ext cx="8427720" cy="361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Clean and preprocess sensor data.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Create features such as moving averages, temperature rise, load percentage and rate of change.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Train and evaluate machine-learning models.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Return fault probability, predicted fault category and confidence.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3">
            <a:extLst>
              <a:ext uri="{FF2B5EF4-FFF2-40B4-BE49-F238E27FC236}">
                <a16:creationId xmlns:a16="http://schemas.microsoft.com/office/drawing/2014/main" id="{45BA46D5-5165-2148-A254-0673F9F4367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11" name="object 4">
            <a:extLst>
              <a:ext uri="{FF2B5EF4-FFF2-40B4-BE49-F238E27FC236}">
                <a16:creationId xmlns:a16="http://schemas.microsoft.com/office/drawing/2014/main" id="{350E0C2B-AE87-9B5D-80F8-215C9582827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600200" y="10668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MODULE 3: PREVENTIVE 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" y="2513694"/>
            <a:ext cx="10149840" cy="3619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Convert model output into Normal, Warning and Critical risk levels.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Generate alerts when predicted risk or sensor values exceed safe thresholds.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Recommend inspection, cooling, load balancing, tightening or component replacement where </a:t>
            </a:r>
            <a:r>
              <a:rPr lang="en-IN" dirty="0"/>
              <a:t>a</a:t>
            </a:r>
            <a:r>
              <a:rPr dirty="0" err="1"/>
              <a:t>ppropriate</a:t>
            </a:r>
            <a:r>
              <a:rPr dirty="0"/>
              <a:t>.</a:t>
            </a:r>
          </a:p>
          <a:p>
            <a:pPr marL="342900" indent="-342900">
              <a:lnSpc>
                <a:spcPct val="20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Record maintenance actions for traceability and future model improvement.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81732" y="667911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785" y="2209800"/>
            <a:ext cx="10149840" cy="3363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lang="en-IN" dirty="0"/>
              <a:t>•</a:t>
            </a:r>
            <a:r>
              <a:rPr dirty="0"/>
              <a:t> Data Acquisition → Data Cleaning → Feature Engineering → Model Training → Fault Prediction.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• Risk Assessment → Alert Generation → Maintenance Recommendation → Maintenance History.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• Evaluate classification performance using accuracy, precision, recall, F1-score and confusion matrix.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• Use configurable thresholds and validate them against safe operating limits.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0" y="502920"/>
            <a:ext cx="8503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 i="0">
                <a:latin typeface="Times New Roman"/>
              </a:rPr>
              <a:t>RESULTS &amp; DISCUSSION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58315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Monitoring
</a:t>
            </a:r>
            <a:r>
              <a:rPr sz="1300">
                <a:latin typeface="Times New Roman"/>
              </a:rPr>
              <a:t>Continuous visibility of panel 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57086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latin typeface="Times New Roman"/>
              </a:rPr>
              <a:t>Prediction
</a:t>
            </a:r>
            <a:r>
              <a:rPr sz="1300" dirty="0">
                <a:latin typeface="Times New Roman"/>
              </a:rPr>
              <a:t>Fault probability and predicted fault type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128" y="3708359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>
                <a:latin typeface="Times New Roman"/>
              </a:rPr>
              <a:t>Alerting
</a:t>
            </a:r>
            <a:r>
              <a:rPr sz="1300">
                <a:latin typeface="Times New Roman"/>
              </a:rPr>
              <a:t>Normal / Warning / Critical status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8255" y="3742772"/>
            <a:ext cx="4892040" cy="1325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 dirty="0">
                <a:latin typeface="Times New Roman"/>
              </a:rPr>
              <a:t>Maintenance
</a:t>
            </a:r>
            <a:r>
              <a:rPr sz="1300" dirty="0">
                <a:latin typeface="Times New Roman"/>
              </a:rPr>
              <a:t>Prioritized preventive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53212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latin typeface="Times New Roman"/>
              </a:rPr>
              <a:t>Evaluation should report accuracy, precision, recall, F1-score, confusion matrix and false-alarm rate on labelled test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870" y="191135"/>
            <a:ext cx="1134694" cy="134239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3694" y="191135"/>
            <a:ext cx="1519554" cy="134239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676400" y="1081361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CONCLUSION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7494" y="2412277"/>
            <a:ext cx="10149840" cy="3132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AI-based monitoring can shift electrical-panel maintenance from reactive practice toward condition-</a:t>
            </a:r>
            <a:r>
              <a:rPr lang="en-IN" dirty="0"/>
              <a:t>b</a:t>
            </a:r>
            <a:r>
              <a:rPr dirty="0" err="1"/>
              <a:t>ased</a:t>
            </a:r>
            <a:r>
              <a:rPr dirty="0"/>
              <a:t> and predictive maintenance.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The proposed architecture combines sensor monitoring, ML prediction, risk assessment, alerts and maintenance history.</a:t>
            </a:r>
          </a:p>
          <a:p>
            <a:pPr marL="342900" indent="-342900">
              <a:lnSpc>
                <a:spcPct val="150000"/>
              </a:lnSpc>
              <a:spcAft>
                <a:spcPts val="1800"/>
              </a:spcAft>
              <a:buFont typeface="Wingdings" panose="05000000000000000000" pitchFamily="2" charset="2"/>
              <a:buChar char="Ø"/>
              <a:defRPr sz="1900">
                <a:latin typeface="Times New Roman"/>
              </a:defRPr>
            </a:pPr>
            <a:r>
              <a:rPr dirty="0"/>
              <a:t> Future scope includes edge AI, multi-panel deployment, anomaly detection for unknown faults, model retraining, mobile notifications and CMMS/IoT integration.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69526" y="156337"/>
            <a:ext cx="1519554" cy="1342389"/>
          </a:xfrm>
          <a:prstGeom prst="rect">
            <a:avLst/>
          </a:prstGeom>
        </p:spPr>
      </p:pic>
      <p:pic>
        <p:nvPicPr>
          <p:cNvPr id="10" name="Picture 9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1"/>
            <a:ext cx="1173480" cy="131359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71600" y="748762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dirty="0">
                <a:latin typeface="Times New Roman"/>
              </a:rPr>
              <a:t>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5076" y="2514600"/>
            <a:ext cx="10149840" cy="359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r>
              <a:rPr dirty="0"/>
              <a:t> 1. </a:t>
            </a:r>
            <a:r>
              <a:rPr dirty="0" err="1"/>
              <a:t>Breiman</a:t>
            </a:r>
            <a:r>
              <a:rPr dirty="0"/>
              <a:t>, L. (20</a:t>
            </a:r>
            <a:r>
              <a:rPr lang="en-IN" dirty="0"/>
              <a:t>22</a:t>
            </a:r>
            <a:r>
              <a:rPr dirty="0"/>
              <a:t>). Random Forests. Machine Learning, 45, 5–32.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r>
              <a:rPr dirty="0"/>
              <a:t> 2. Jardine, A. K. S., Lin, D., &amp; </a:t>
            </a:r>
            <a:r>
              <a:rPr dirty="0" err="1"/>
              <a:t>Banjevic</a:t>
            </a:r>
            <a:r>
              <a:rPr dirty="0"/>
              <a:t>, D. (20</a:t>
            </a:r>
            <a:r>
              <a:rPr lang="en-IN" dirty="0"/>
              <a:t>25</a:t>
            </a:r>
            <a:r>
              <a:rPr dirty="0"/>
              <a:t>). A review on machinery diagnostics and prognostics implementing condition-based maintenance.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r>
              <a:rPr dirty="0"/>
              <a:t> 3. ISO 17359:2018. Condition monitoring and diagnostics of machines — General guidelines.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r>
              <a:rPr dirty="0"/>
              <a:t> 4. NFPA 70B (202</a:t>
            </a:r>
            <a:r>
              <a:rPr lang="en-IN" dirty="0"/>
              <a:t>4</a:t>
            </a:r>
            <a:r>
              <a:rPr dirty="0"/>
              <a:t>). Standard for Electrical Equipment Maintenance.</a:t>
            </a:r>
          </a:p>
          <a:p>
            <a:pPr>
              <a:lnSpc>
                <a:spcPct val="150000"/>
              </a:lnSpc>
              <a:spcAft>
                <a:spcPts val="1800"/>
              </a:spcAft>
              <a:defRPr sz="1900">
                <a:latin typeface="Times New Roman"/>
              </a:defRPr>
            </a:pPr>
            <a:r>
              <a:rPr dirty="0"/>
              <a:t> 5. Hochreiter, S., &amp; </a:t>
            </a:r>
            <a:r>
              <a:rPr dirty="0" err="1"/>
              <a:t>Schmidhuber</a:t>
            </a:r>
            <a:r>
              <a:rPr dirty="0"/>
              <a:t>, J. (</a:t>
            </a:r>
            <a:r>
              <a:rPr lang="en-IN" dirty="0"/>
              <a:t>2025</a:t>
            </a:r>
            <a:r>
              <a:rPr dirty="0"/>
              <a:t>). Long Short-Term Memory.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latin typeface="Times New Roman"/>
              </a:rPr>
              <a:t>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01015"/>
            <a:ext cx="1135773" cy="134302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62209" y="393700"/>
            <a:ext cx="1527809" cy="1349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09800" y="2743200"/>
            <a:ext cx="7589520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000" b="1" i="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419088"/>
            <a:ext cx="3200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 i="0">
                <a:latin typeface="Times New Roman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865</TotalTime>
  <Words>1244</Words>
  <Application>Microsoft Office PowerPoint</Application>
  <PresentationFormat>Widescreen</PresentationFormat>
  <Paragraphs>166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Algerian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</dc:title>
  <dc:creator>BASKARAN S</dc:creator>
  <cp:lastModifiedBy>DELL</cp:lastModifiedBy>
  <cp:revision>18</cp:revision>
  <dcterms:created xsi:type="dcterms:W3CDTF">2026-01-09T01:43:09Z</dcterms:created>
  <dcterms:modified xsi:type="dcterms:W3CDTF">2026-08-19T04:00:29Z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2025-11-27T05:30:00Z</vt:filetime>
  </property>
  <property fmtid="{D5CDD505-2E9C-101B-9397-08002B2CF9AE}" pid="3" name="Creator">
    <vt:lpwstr>Microsoft® Word 2019</vt:lpwstr>
  </property>
  <property fmtid="{D5CDD505-2E9C-101B-9397-08002B2CF9AE}" pid="4" name="LastSaved">
    <vt:filetime>2026-01-09T05:30:00Z</vt:filetime>
  </property>
  <property fmtid="{D5CDD505-2E9C-101B-9397-08002B2CF9AE}" pid="5" name="Producer">
    <vt:lpwstr>Microsoft® Word 2019</vt:lpwstr>
  </property>
  <property fmtid="{D5CDD505-2E9C-101B-9397-08002B2CF9AE}" pid="6" name="ICV">
    <vt:lpwstr>D2C67E8E397C4C73BF307D1014DD8300_12</vt:lpwstr>
  </property>
  <property fmtid="{D5CDD505-2E9C-101B-9397-08002B2CF9AE}" pid="7" name="KSOProductBuildVer">
    <vt:lpwstr>1033-12.2.0.23196</vt:lpwstr>
  </property>
</Properties>
</file>