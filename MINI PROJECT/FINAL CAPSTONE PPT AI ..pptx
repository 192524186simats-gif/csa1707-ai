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60" r:id="rId4"/>
    <p:sldId id="261" r:id="rId5"/>
    <p:sldId id="259" r:id="rId6"/>
    <p:sldId id="264" r:id="rId7"/>
    <p:sldId id="285" r:id="rId8"/>
    <p:sldId id="279" r:id="rId9"/>
    <p:sldId id="284" r:id="rId10"/>
    <p:sldId id="273" r:id="rId11"/>
    <p:sldId id="274" r:id="rId12"/>
    <p:sldId id="275" r:id="rId13"/>
    <p:sldId id="287" r:id="rId14"/>
    <p:sldId id="262" r:id="rId15"/>
    <p:sldId id="286" r:id="rId16"/>
    <p:sldId id="265" r:id="rId17"/>
    <p:sldId id="283" r:id="rId18"/>
    <p:sldId id="267" r:id="rId19"/>
    <p:sldId id="268" r:id="rId20"/>
    <p:sldId id="269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5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>
      <p:cViewPr varScale="1">
        <p:scale>
          <a:sx n="78" d="100"/>
          <a:sy n="78" d="100"/>
        </p:scale>
        <p:origin x="869" y="62"/>
      </p:cViewPr>
      <p:guideLst>
        <p:guide orient="horz" pos="285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D9CAF-DC26-419E-8B11-09857B664346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B2DE9-CA67-4F69-BBF5-40D681567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10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B2DE9-CA67-4F69-BBF5-40D6815671C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25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19192" y="572770"/>
            <a:ext cx="275361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7467" y="399034"/>
            <a:ext cx="7497064" cy="704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11139" y="6474967"/>
            <a:ext cx="56451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04778" y="6474967"/>
            <a:ext cx="24409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0" y="320040"/>
            <a:ext cx="5760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latin typeface="Times New Roman"/>
              </a:rPr>
              <a:t>SIMATS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868680"/>
            <a:ext cx="6583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 dirty="0">
                <a:latin typeface="Times New Roman"/>
              </a:rPr>
              <a:t>SAVEETHA INSTITUTE OF MEDICAL AND
TECHNICAL SCIENCES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6034" y="1807661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2100" b="1" i="0" dirty="0">
                <a:latin typeface="Times New Roman"/>
              </a:rPr>
              <a:t>CAPSTONE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4983" y="2791378"/>
            <a:ext cx="9144000" cy="14811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i="0" dirty="0">
                <a:latin typeface="Times New Roman"/>
              </a:rPr>
              <a:t>AI-Powered </a:t>
            </a:r>
            <a:r>
              <a:rPr lang="en-US" sz="3200" b="1" dirty="0">
                <a:latin typeface="Times New Roman"/>
              </a:rPr>
              <a:t>E</a:t>
            </a:r>
            <a:r>
              <a:rPr lang="en-US" sz="3200" b="1" i="0" dirty="0">
                <a:latin typeface="Times New Roman"/>
              </a:rPr>
              <a:t>lectrical </a:t>
            </a:r>
            <a:r>
              <a:rPr lang="en-US" sz="3200" b="1" dirty="0">
                <a:latin typeface="Times New Roman"/>
              </a:rPr>
              <a:t>P</a:t>
            </a:r>
            <a:r>
              <a:rPr lang="en-US" sz="3200" b="1" i="0" dirty="0">
                <a:latin typeface="Times New Roman"/>
              </a:rPr>
              <a:t>anel </a:t>
            </a:r>
            <a:r>
              <a:rPr lang="en-US" sz="3200" b="1" dirty="0">
                <a:latin typeface="Times New Roman"/>
              </a:rPr>
              <a:t>F</a:t>
            </a:r>
            <a:r>
              <a:rPr lang="en-US" sz="3200" b="1" i="0" dirty="0">
                <a:latin typeface="Times New Roman"/>
              </a:rPr>
              <a:t>ault </a:t>
            </a:r>
            <a:r>
              <a:rPr lang="en-US" sz="3200" b="1" dirty="0">
                <a:latin typeface="Times New Roman"/>
              </a:rPr>
              <a:t>P</a:t>
            </a:r>
            <a:r>
              <a:rPr lang="en-US" sz="3200" b="1" i="0" dirty="0">
                <a:latin typeface="Times New Roman"/>
              </a:rPr>
              <a:t>rediction
and Preventive </a:t>
            </a:r>
            <a:r>
              <a:rPr lang="en-US" sz="3200" b="1" dirty="0">
                <a:latin typeface="Times New Roman"/>
              </a:rPr>
              <a:t>M</a:t>
            </a:r>
            <a:r>
              <a:rPr lang="en-US" sz="3200" b="1" i="0" dirty="0">
                <a:latin typeface="Times New Roman"/>
              </a:rPr>
              <a:t>aintenance </a:t>
            </a:r>
            <a:r>
              <a:rPr lang="en-US" sz="3200" b="1" dirty="0">
                <a:latin typeface="Times New Roman"/>
              </a:rPr>
              <a:t>S</a:t>
            </a:r>
            <a:r>
              <a:rPr lang="en-US" sz="3200" b="1" i="0" dirty="0">
                <a:latin typeface="Times New Roman"/>
              </a:rPr>
              <a:t>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64426" y="2198002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 dirty="0">
                <a:latin typeface="Times New Roman"/>
              </a:rPr>
              <a:t>CSA17</a:t>
            </a:r>
            <a:r>
              <a:rPr lang="en-IN" sz="1800" b="1" i="0" dirty="0">
                <a:latin typeface="Times New Roman"/>
              </a:rPr>
              <a:t>07</a:t>
            </a:r>
            <a:r>
              <a:rPr sz="1800" b="1" i="0" dirty="0">
                <a:latin typeface="Times New Roman"/>
              </a:rPr>
              <a:t> -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18011"/>
            <a:ext cx="33832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dirty="0">
                <a:latin typeface="Times New Roman"/>
              </a:rPr>
              <a:t>Guided By</a:t>
            </a:r>
            <a:r>
              <a:rPr lang="en-IN" sz="1800" b="1" i="0" dirty="0">
                <a:latin typeface="Times New Roman"/>
              </a:rPr>
              <a:t> </a:t>
            </a:r>
            <a:r>
              <a:rPr sz="1800" b="1" i="0" dirty="0">
                <a:latin typeface="Times New Roman"/>
              </a:rPr>
              <a:t>:
Dr. R. Veeramani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63260" y="5293147"/>
            <a:ext cx="347472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b="1" dirty="0">
                <a:latin typeface="Times New Roman"/>
              </a:rPr>
              <a:t>Presented By :</a:t>
            </a:r>
          </a:p>
          <a:p>
            <a:pPr algn="l"/>
            <a:r>
              <a:rPr lang="en-IN" sz="1800" b="1" i="0" dirty="0">
                <a:latin typeface="Times New Roman"/>
              </a:rPr>
              <a:t>V.Lasya(192524186)</a:t>
            </a:r>
          </a:p>
          <a:p>
            <a:pPr algn="l"/>
            <a:r>
              <a:rPr lang="en-IN" b="1" dirty="0">
                <a:latin typeface="Times New Roman"/>
              </a:rPr>
              <a:t>V.G.Abbiramy(192524097)</a:t>
            </a:r>
          </a:p>
          <a:p>
            <a:pPr algn="l"/>
            <a:r>
              <a:rPr lang="en-IN" b="1" dirty="0">
                <a:latin typeface="Times New Roman"/>
              </a:rPr>
              <a:t>S.Divyasri(192524388)</a:t>
            </a:r>
          </a:p>
          <a:p>
            <a:pPr algn="l"/>
            <a:endParaRPr lang="en-IN" b="1" dirty="0">
              <a:latin typeface="Times New Roman"/>
            </a:endParaRPr>
          </a:p>
        </p:txBody>
      </p:sp>
      <p:pic>
        <p:nvPicPr>
          <p:cNvPr id="9" name="Picture 8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726141" cy="1143000"/>
          </a:xfrm>
          <a:prstGeom prst="rect">
            <a:avLst/>
          </a:prstGeom>
        </p:spPr>
      </p:pic>
      <p:pic>
        <p:nvPicPr>
          <p:cNvPr id="10" name="Picture 9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228600"/>
            <a:ext cx="1135578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042" y="76200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99522" y="76200"/>
            <a:ext cx="1333726" cy="12274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12290" y="493479"/>
            <a:ext cx="122682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ABSTRACT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958" y="1504945"/>
            <a:ext cx="792480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sz="2000" dirty="0"/>
              <a:t> </a:t>
            </a:r>
            <a:r>
              <a:rPr lang="en-US" sz="2000" dirty="0"/>
              <a:t>The system monitors the temperature and current of an electrical panel continuously using sensors.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An ESP32 collects and processes the real-time sensor data.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It identifies overheating and abnormal current conditions that may indicate potential faults.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The system analyzes abnormal patterns to provide early fault prediction and warning.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The proposed solution supports predictive maintenance, improved safety, and Industry 4.0 applications</a:t>
            </a:r>
            <a:endParaRPr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363AA-F142-A932-8694-3E85EB883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2209800"/>
            <a:ext cx="3291658" cy="38132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502920"/>
            <a:ext cx="1219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0" y="1897853"/>
            <a:ext cx="7726680" cy="4422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</a:t>
            </a:r>
            <a:r>
              <a:rPr sz="2000" dirty="0"/>
              <a:t>Electrical panels are essential for safe and reliable power distribution in industries, buildings and commercial facilities.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sz="2000" dirty="0"/>
              <a:t> Common problems include overheating, overload, abnormal voltage/current, loose connections and component degradation.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sz="2000" dirty="0"/>
              <a:t>Traditional maintenance is mainly scheduled or reactive and may not identify developing faults early.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sz="2000" dirty="0"/>
              <a:t> Artificial Intelligence can learn patterns from sensor data and predict abnormal conditions before a major failure.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3E6892-E6E7-2CC6-F263-8A3F96483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2204260"/>
            <a:ext cx="3931366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2" y="100493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0203" y="100493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5029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latin typeface="Times New Roman"/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636" y="1620073"/>
            <a:ext cx="9904094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Electrical panel faults such as overheating and abnormal current can cause equipment damage and unexpected failures.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Traditional inspection methods may not detect these problems before they become critical.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Continuous manual monitoring is time-consuming and inefficient for industrial environments.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There is a need for a low-cost real-time system that can monitor electrical conditions continuously.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The proposed system aims to detect abnormal conditions early and predict potential faults using ESP32 and sensor-based monitoring.</a:t>
            </a:r>
            <a:endParaRPr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56722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4361" y="156722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832833"/>
            <a:ext cx="1219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latin typeface="Times New Roman"/>
              </a:rP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741" y="1787565"/>
            <a:ext cx="800100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To continuously monitor temperature and current in an electrical panel using sensors.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To use ESP32 for real-time collection and processing of sensor data.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To detect overheating and abnormal current conditions at an early stage.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To analyze sensor readings to identify and predict potential electrical faults.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To improve safety, reliability, and predictive maintenance in Industry 4.0 environments.</a:t>
            </a:r>
            <a:endParaRPr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51D1E4-A618-94C3-440A-9D41075FD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315" y="2362200"/>
            <a:ext cx="3657600" cy="28804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2" y="12890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3200" y="134804"/>
            <a:ext cx="1519554" cy="13423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02920"/>
            <a:ext cx="8503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i="0">
                <a:latin typeface="Times New Roman"/>
              </a:rPr>
              <a:t>LITERATURE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latin typeface="Times New Roman"/>
              </a:rPr>
              <a:t>10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0D43EC-2E46-53B9-E4F8-E42869E0F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652398"/>
              </p:ext>
            </p:extLst>
          </p:nvPr>
        </p:nvGraphicFramePr>
        <p:xfrm>
          <a:off x="1143000" y="1577974"/>
          <a:ext cx="9966960" cy="504228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81317706"/>
                    </a:ext>
                  </a:extLst>
                </a:gridCol>
                <a:gridCol w="2462784">
                  <a:extLst>
                    <a:ext uri="{9D8B030D-6E8A-4147-A177-3AD203B41FA5}">
                      <a16:colId xmlns:a16="http://schemas.microsoft.com/office/drawing/2014/main" val="1936205667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351907441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1479034457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1151865995"/>
                    </a:ext>
                  </a:extLst>
                </a:gridCol>
              </a:tblGrid>
              <a:tr h="305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Year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Research / Study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Method / Focus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Key Finding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Limitation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1593269531"/>
                  </a:ext>
                </a:extLst>
              </a:tr>
              <a:tr h="763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2022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Machine Learning for Predictive Maintenance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ML-based condition monitoring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ML can identify abnormal equipment behavior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Requires sufficient quality data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1058449976"/>
                  </a:ext>
                </a:extLst>
              </a:tr>
              <a:tr h="763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2023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AI-Based Fault Diagnosis in Electrical Systems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Machine learning &amp; fault classification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AI improves early detection of electrical faults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Model accuracy depends on sensor data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991224556"/>
                  </a:ext>
                </a:extLst>
              </a:tr>
              <a:tr h="993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2024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IoT-Based Predictive Maintenance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IoT sensors + real-time monitoring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Continuous monitoring enables early fault identification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Connectivity and hardware cost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324298342"/>
                  </a:ext>
                </a:extLst>
              </a:tr>
              <a:tr h="763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2024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Deep Learning for Equipment Fault Prediction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Deep learning &amp; time-series analysis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Learns complex patterns from historical sensor data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Requires larger datasets and computation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903521430"/>
                  </a:ext>
                </a:extLst>
              </a:tr>
              <a:tr h="1451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2025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AI-Driven Predictive Maintenance Review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AI/ML + condition monitoring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Predictive maintenance can reduce failures and improve maintenance planning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Real-world implementation remains challenging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14310658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4E6C83-CA53-1B89-CD18-6E613D15BD11}"/>
              </a:ext>
            </a:extLst>
          </p:cNvPr>
          <p:cNvSpPr txBox="1"/>
          <p:nvPr/>
        </p:nvSpPr>
        <p:spPr>
          <a:xfrm>
            <a:off x="2971800" y="685800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700" b="1" dirty="0">
                <a:latin typeface="Times New Roman"/>
              </a:rPr>
              <a:t>EXISTING SYSTEM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DA9D7668-74F2-0A64-B84B-BEA1F3DE355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51D978C4-905F-AB99-0D49-19058ACCCA3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608DF5-C744-7047-5303-3AB2561053BB}"/>
              </a:ext>
            </a:extLst>
          </p:cNvPr>
          <p:cNvSpPr txBox="1"/>
          <p:nvPr/>
        </p:nvSpPr>
        <p:spPr>
          <a:xfrm>
            <a:off x="4572000" y="1905000"/>
            <a:ext cx="739140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panels are mainly monitored through manual inspection and scheduled maintenance.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Faults such as overheating, overload, and abnormal current may be detected only after noticeable symptoms occur.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generally use fixed maintenance schedules instead of predicting the actual condition of equipment.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manual monitoring is time-consuming and may miss developing faults.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limitations can lead to unexpected failures, equipment damage, downtime, and higher maintenance costs.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5ADE5B-40D1-CD17-8126-D075A373F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362200"/>
            <a:ext cx="3943307" cy="380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284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2" y="89418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50183" y="89418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22123" y="609600"/>
            <a:ext cx="1219199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PROPOSED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557" y="2234411"/>
            <a:ext cx="7578694" cy="449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an ESP32-based monitoring unit to continuously monitor electrical panel conditions.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current sensor measures the electrical current, while a temperature sensor monitors the panel temperature.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 collects and processes the sensor readings in real time.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the readings to identify normal, warning, and abnormal/fault conditions.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enable early fault detection, preventive maintenance, improved safety, and reduced downtime. </a:t>
            </a:r>
          </a:p>
          <a:p>
            <a:pPr algn="just">
              <a:lnSpc>
                <a:spcPct val="150000"/>
              </a:lnSpc>
              <a:spcAft>
                <a:spcPts val="1800"/>
              </a:spcAft>
              <a:defRPr sz="1900">
                <a:latin typeface="Times New Roman"/>
              </a:defRPr>
            </a:pPr>
            <a:endParaRPr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0E70FB-B084-B4AF-2FB2-83FB8B357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355407"/>
            <a:ext cx="4138643" cy="374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513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2" y="76200"/>
            <a:ext cx="1186764" cy="9518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7625" y="76200"/>
            <a:ext cx="1210942" cy="9518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8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694" y="744794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3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62088C7B-CAEB-97CA-B317-D13F79289D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DD40B100-D3B7-718B-29E1-C61C4B3B68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50669" y="938858"/>
            <a:ext cx="79267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MODULE 1</a:t>
            </a:r>
            <a:r>
              <a:rPr lang="en-US" sz="2700" b="1" dirty="0">
                <a:latin typeface="Times New Roman"/>
              </a:rPr>
              <a:t> :</a:t>
            </a: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SENSING &amp; DATA COLLECTION</a:t>
            </a:r>
            <a:endParaRPr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53121" y="2071732"/>
            <a:ext cx="10149840" cy="476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: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real-time electrical and thermal data from the electrical panel using sensors.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sensor measures the current flowing through the electrical load.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temperature sensor continuously monitors the temperature of the electrical panel.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sensors provide real-time readings to the ESP32.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 collects and processes the sensor data for further analysis.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acts as the primary input for detecting abnormal conditions and predicting potential faults.</a:t>
            </a:r>
          </a:p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endParaRPr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F64864FD-F7D5-3CA2-F1EB-C81F6CA8FB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E0ECDDDE-4780-4F79-9174-8809228540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76400" y="862330"/>
            <a:ext cx="8503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MODULE 2: AI</a:t>
            </a:r>
            <a:r>
              <a:rPr lang="en-IN" sz="2700" b="1" dirty="0">
                <a:latin typeface="Times New Roman"/>
              </a:rPr>
              <a:t> </a:t>
            </a:r>
            <a:r>
              <a:rPr sz="2700" b="1" dirty="0">
                <a:latin typeface="Times New Roman"/>
              </a:rPr>
              <a:t> FAULT</a:t>
            </a:r>
            <a:r>
              <a:rPr lang="en-IN" sz="2700" b="1" dirty="0">
                <a:latin typeface="Times New Roman"/>
              </a:rPr>
              <a:t> </a:t>
            </a:r>
            <a:r>
              <a:rPr sz="2700" b="1" dirty="0">
                <a:latin typeface="Times New Roman"/>
              </a:rPr>
              <a:t>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3980" y="1892766"/>
            <a:ext cx="9906000" cy="419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process the sensor readings and identify abnormal electrical and thermal conditions.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 receives the current and temperature readings from the sensors.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sensor values are processed and continuously monitored in real time.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compares the readings with the defined normal operating conditions.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changes in current or temperature are identified as potential fault conditions.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the panel condition as Normal, Warning, or Fault.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data supports early prediction of possible electrical failures</a:t>
            </a:r>
            <a:r>
              <a:rPr lang="en-US" sz="2000" dirty="0"/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3">
            <a:extLst>
              <a:ext uri="{FF2B5EF4-FFF2-40B4-BE49-F238E27FC236}">
                <a16:creationId xmlns:a16="http://schemas.microsoft.com/office/drawing/2014/main" id="{45BA46D5-5165-2148-A254-0673F9F436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11" name="object 4">
            <a:extLst>
              <a:ext uri="{FF2B5EF4-FFF2-40B4-BE49-F238E27FC236}">
                <a16:creationId xmlns:a16="http://schemas.microsoft.com/office/drawing/2014/main" id="{350E0C2B-AE87-9B5D-80F8-215C9582827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00200" y="939165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MODULE 3: PREVENTIVE 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1080" y="2286000"/>
            <a:ext cx="10149840" cy="476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the system condition and provide an alert when an abnormal condition or potential fault is detected.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sensor values and system status are displayed on the LCD.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indicators provide a visual indication of the panel condition.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buzzer provides an audible alert when a fault condition is detected.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indicates different conditions such as Normal, Warning, and Fault.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alerts help the user take preventive action before a major electrical failure occurs.</a:t>
            </a:r>
          </a:p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FB70DA-D2BA-A789-66C9-B628EB217CEA}"/>
              </a:ext>
            </a:extLst>
          </p:cNvPr>
          <p:cNvSpPr txBox="1"/>
          <p:nvPr/>
        </p:nvSpPr>
        <p:spPr>
          <a:xfrm>
            <a:off x="1295400" y="1447800"/>
            <a:ext cx="9601200" cy="4922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sensor data collected from the electrical panel.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contains current (A), temperature (°C), timestamp, and fault condition.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ESP32 collects current and temperature readings continuously.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Threshold-based rule classification is used to identify Normal, Warning, and Fault conditions.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AI/ML: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AI/ML model can be integrated later using historical sensor data for more accurate fault prediction</a:t>
            </a:r>
            <a:r>
              <a:rPr lang="en-IN" sz="2000" dirty="0"/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E4B31-4B21-DC33-3DF3-BCB06A943F67}"/>
              </a:ext>
            </a:extLst>
          </p:cNvPr>
          <p:cNvSpPr txBox="1"/>
          <p:nvPr/>
        </p:nvSpPr>
        <p:spPr>
          <a:xfrm>
            <a:off x="0" y="762000"/>
            <a:ext cx="1219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700" b="1" dirty="0">
                <a:latin typeface="Times New Roman"/>
              </a:rPr>
              <a:t>DATASET</a:t>
            </a: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D6A8EF44-A4F3-449C-A6BD-800E78736A0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90805"/>
            <a:ext cx="1295400" cy="1179026"/>
          </a:xfrm>
          <a:prstGeom prst="rect">
            <a:avLst/>
          </a:prstGeom>
        </p:spPr>
      </p:pic>
      <p:pic>
        <p:nvPicPr>
          <p:cNvPr id="11" name="object 4">
            <a:extLst>
              <a:ext uri="{FF2B5EF4-FFF2-40B4-BE49-F238E27FC236}">
                <a16:creationId xmlns:a16="http://schemas.microsoft.com/office/drawing/2014/main" id="{1E149F1B-BC8C-FF1F-04C9-5ED543060D1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599" y="126946"/>
            <a:ext cx="1514157" cy="132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01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623" y="126946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0203" y="126946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81732" y="667911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276" y="1676400"/>
            <a:ext cx="10682974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Sensor Data Collection – The current and temperature sensors continuously collect real-time data from the electrical panel.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ESP32 Data Acquisition – The ESP32 receives the sensor readings and processes the collected data.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Data Analysis – The current and temperature values are monitored to identify abnormal operating conditions.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Fault Prediction – Abnormal patterns such as excessive current or overheating are identified as potential fault conditions.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Alert &amp; Indication – The system displays the status on the LCD and provides LED/buzzer alerts when a warning or fault is detected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A2F5F6-91A9-D518-2ECF-D2668F57042C}"/>
              </a:ext>
            </a:extLst>
          </p:cNvPr>
          <p:cNvSpPr txBox="1"/>
          <p:nvPr/>
        </p:nvSpPr>
        <p:spPr>
          <a:xfrm>
            <a:off x="0" y="914400"/>
            <a:ext cx="1219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700" b="1" i="0" dirty="0">
                <a:latin typeface="Times New Roman"/>
              </a:rPr>
              <a:t>IMPLEMENTATION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1B05F49E-1B17-6EDA-5910-804E68EEBA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2" y="304800"/>
            <a:ext cx="1289048" cy="134239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3F92EF64-4FA6-0C7A-6FF5-883E8FC0948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304800"/>
            <a:ext cx="1519554" cy="1342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432AB0-0DAC-8664-0C84-5017A95D0A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133600"/>
            <a:ext cx="7848600" cy="441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71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2" y="165510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02920"/>
            <a:ext cx="8503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i="0" dirty="0">
                <a:latin typeface="Times New Roman"/>
              </a:rPr>
              <a:t>RESULTS &amp;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742" y="2415110"/>
            <a:ext cx="48920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of current and temperature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2407736"/>
            <a:ext cx="48920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Detection</a:t>
            </a:r>
          </a:p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normal and abnormal electrical conditions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1300" dirty="0">
              <a:latin typeface="Times New Rom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9742" y="4648200"/>
            <a:ext cx="48920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Alerting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LED, LCD and buzzer indicate warning or fault status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4643100"/>
            <a:ext cx="48920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Action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alerts help prevent equipment damage and unexpected failure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1300" dirty="0"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latin typeface="Times New Roman"/>
              </a:rPr>
              <a:t>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2" y="304800"/>
            <a:ext cx="1289048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896072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latin typeface="Times New Roman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2227107"/>
            <a:ext cx="678180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IN" sz="2000" dirty="0"/>
              <a:t>Integrate an AI/ML model for more accurate fault prediction.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IN" sz="2000" dirty="0"/>
              <a:t>Add Wi-Fi and cloud connectivity for remote monitoring.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IN" sz="2000" dirty="0"/>
              <a:t>Develop a web/mobile dashboard with real-time notifications.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IN" sz="2000" dirty="0"/>
              <a:t>Store sensor data for historical analysis and fault trends.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IN" sz="2000" dirty="0"/>
              <a:t>Expand monitoring to include voltage, power, vibration, and multiple electrical panels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E30ED-70E9-B5A5-A4A7-145B4BE23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2485153"/>
            <a:ext cx="4768730" cy="367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08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713" y="92033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40733" y="92033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555711"/>
            <a:ext cx="1219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80" y="1752600"/>
            <a:ext cx="11361420" cy="555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successfully provides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of electrical panel current and temperature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effectively collects and processes sensor readings to identify abnormal conditions. 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conditions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overheating and abnormal current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an early stage.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LCD, LEDs, and buzzer alerts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clear indication of the panel status.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maintenance, improved safety, and reduced risk of unexpected electrical failures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Industry 4.0 environments. </a:t>
            </a:r>
          </a:p>
          <a:p>
            <a:pPr>
              <a:lnSpc>
                <a:spcPct val="150000"/>
              </a:lnSpc>
              <a:spcAft>
                <a:spcPts val="1800"/>
              </a:spcAft>
              <a:defRPr sz="1900">
                <a:latin typeface="Times New Roman"/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4326" y="113986"/>
            <a:ext cx="1519554" cy="1342389"/>
          </a:xfrm>
          <a:prstGeom prst="rect">
            <a:avLst/>
          </a:prstGeom>
        </p:spPr>
      </p:pic>
      <p:pic>
        <p:nvPicPr>
          <p:cNvPr id="10" name="Picture 9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" y="29525"/>
            <a:ext cx="1173480" cy="13135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488000"/>
            <a:ext cx="1219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7C3843-D07A-9519-E3A4-CB56DB3775F3}"/>
              </a:ext>
            </a:extLst>
          </p:cNvPr>
          <p:cNvSpPr txBox="1"/>
          <p:nvPr/>
        </p:nvSpPr>
        <p:spPr>
          <a:xfrm>
            <a:off x="502920" y="1569628"/>
            <a:ext cx="1117854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Jardine, A. K. S., Lin, D., &amp;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Banjevic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(2025).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review on machinery diagnostics and prognostics implementing condition-based maintenance.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Mechanical Systems and Signal Processing.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17359:2018.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monitoring and diagnostics of machines – General guidelines.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Organization for Standardization.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NFPA 70B (2023).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for Electrical Equipment Maintenance.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National Fire Protection Association.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Lei, Y., Li, N., Guo, L., Li, N., Yan, T., &amp; Lin, J. (2022).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fault diagnosis of machinery using machine learning and deep learning approaches.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Mechanical Systems and Signal Processing.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Carvalho, T. P., Soares, F. A. A. M. N., Vita, R., Francisco, R. P., Basto, J. P., &amp; Alcalá, S. G. S. (2022).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systematic literature review of machine learning methods applied to predictive maintenance.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Computers &amp; Industrial Engineering.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01015"/>
            <a:ext cx="1135773" cy="13430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2209" y="393700"/>
            <a:ext cx="1527809" cy="13491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09800" y="2743200"/>
            <a:ext cx="758952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latin typeface="Times New Roman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</TotalTime>
  <Words>1467</Words>
  <Application>Microsoft Office PowerPoint</Application>
  <PresentationFormat>Widescreen</PresentationFormat>
  <Paragraphs>167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Algerian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BASKARAN S</dc:creator>
  <cp:lastModifiedBy>vandana lasya</cp:lastModifiedBy>
  <cp:revision>29</cp:revision>
  <dcterms:created xsi:type="dcterms:W3CDTF">2026-01-09T01:43:09Z</dcterms:created>
  <dcterms:modified xsi:type="dcterms:W3CDTF">2026-09-04T16:39:19Z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2025-11-27T05:30:00Z</vt:filetime>
  </property>
  <property fmtid="{D5CDD505-2E9C-101B-9397-08002B2CF9AE}" pid="3" name="Creator">
    <vt:lpwstr>Microsoft® Word 2019</vt:lpwstr>
  </property>
  <property fmtid="{D5CDD505-2E9C-101B-9397-08002B2CF9AE}" pid="4" name="LastSaved">
    <vt:filetime>2026-01-09T05:30:00Z</vt:filetime>
  </property>
  <property fmtid="{D5CDD505-2E9C-101B-9397-08002B2CF9AE}" pid="5" name="Producer">
    <vt:lpwstr>Microsoft® Word 2019</vt:lpwstr>
  </property>
  <property fmtid="{D5CDD505-2E9C-101B-9397-08002B2CF9AE}" pid="6" name="ICV">
    <vt:lpwstr>D2C67E8E397C4C73BF307D1014DD8300_12</vt:lpwstr>
  </property>
  <property fmtid="{D5CDD505-2E9C-101B-9397-08002B2CF9AE}" pid="7" name="KSOProductBuildVer">
    <vt:lpwstr>1033-12.2.0.23196</vt:lpwstr>
  </property>
</Properties>
</file>